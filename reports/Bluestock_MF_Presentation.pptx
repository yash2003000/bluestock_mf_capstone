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9" r:id="rId5"/>
    <p:sldId id="260" r:id="rId6"/>
    <p:sldId id="262" r:id="rId7"/>
    <p:sldId id="263" r:id="rId8"/>
    <p:sldId id="265" r:id="rId9"/>
    <p:sldId id="267" r:id="rId10"/>
    <p:sldId id="269" r:id="rId11"/>
    <p:sldId id="272" r:id="rId12"/>
    <p:sldId id="273" r:id="rId13"/>
    <p:sldId id="274" r:id="rId14"/>
    <p:sldId id="27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image" Target="../media/image1.png"/><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8.xml"/><Relationship Id="rId7" Type="http://schemas.openxmlformats.org/officeDocument/2006/relationships/tags" Target="../tags/tag7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image" Target="../media/image2.png"/><Relationship Id="rId1" Type="http://schemas.openxmlformats.org/officeDocument/2006/relationships/tags" Target="../tags/tag73.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9.xml"/><Relationship Id="rId3" Type="http://schemas.openxmlformats.org/officeDocument/2006/relationships/image" Target="../media/image5.png"/><Relationship Id="rId2" Type="http://schemas.openxmlformats.org/officeDocument/2006/relationships/tags" Target="../tags/tag78.xml"/><Relationship Id="rId1" Type="http://schemas.openxmlformats.org/officeDocument/2006/relationships/tags" Target="../tags/tag77.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2.xml"/><Relationship Id="rId3" Type="http://schemas.openxmlformats.org/officeDocument/2006/relationships/image" Target="../media/image6.png"/><Relationship Id="rId2" Type="http://schemas.openxmlformats.org/officeDocument/2006/relationships/tags" Target="../tags/tag81.xml"/><Relationship Id="rId1" Type="http://schemas.openxmlformats.org/officeDocument/2006/relationships/tags" Target="../tags/tag80.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86.xml"/><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image" Target="../media/image7.png"/><Relationship Id="rId1" Type="http://schemas.openxmlformats.org/officeDocument/2006/relationships/tags" Target="../tags/tag83.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image" Target="../media/image8.png"/><Relationship Id="rId1" Type="http://schemas.openxmlformats.org/officeDocument/2006/relationships/tags" Target="../tags/tag87.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3.xml"/><Relationship Id="rId3" Type="http://schemas.openxmlformats.org/officeDocument/2006/relationships/image" Target="../media/image9.png"/><Relationship Id="rId2" Type="http://schemas.openxmlformats.org/officeDocument/2006/relationships/tags" Target="../tags/tag92.xml"/><Relationship Id="rId1" Type="http://schemas.openxmlformats.org/officeDocument/2006/relationships/tags" Target="../tags/tag91.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tags" Target="../tags/tag95.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tags" Target="../tags/tag94.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tags" Target="../tags/tag97.xml"/><Relationship Id="rId2" Type="http://schemas.openxmlformats.org/officeDocument/2006/relationships/image" Target="../media/image12.png"/><Relationship Id="rId1" Type="http://schemas.openxmlformats.org/officeDocument/2006/relationships/tags" Target="../tags/tag96.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98.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198880" y="914400"/>
            <a:ext cx="9799320" cy="840740"/>
          </a:xfrm>
        </p:spPr>
        <p:txBody>
          <a:bodyPr>
            <a:normAutofit fontScale="90000"/>
          </a:bodyPr>
          <a:p>
            <a:r>
              <a:rPr lang="en-US" altLang="en-US" sz="3110" b="1" i="1">
                <a:latin typeface="Times New Roman" panose="02020603050405020304" charset="0"/>
                <a:cs typeface="Times New Roman" panose="02020603050405020304" charset="0"/>
              </a:rPr>
              <a:t>BLUESTOCK MUTUAL FUND ANALYTICS CAPSTONE PROJECT</a:t>
            </a:r>
            <a:endParaRPr lang="en-US" altLang="en-US" sz="3110" b="1" i="1">
              <a:latin typeface="Times New Roman" panose="02020603050405020304" charset="0"/>
              <a:cs typeface="Times New Roman" panose="02020603050405020304" charset="0"/>
            </a:endParaRPr>
          </a:p>
        </p:txBody>
      </p:sp>
      <p:sp>
        <p:nvSpPr>
          <p:cNvPr id="3" name="Subtitle 2"/>
          <p:cNvSpPr>
            <a:spLocks noGrp="1"/>
          </p:cNvSpPr>
          <p:nvPr>
            <p:ph type="subTitle" idx="1"/>
            <p:custDataLst>
              <p:tags r:id="rId2"/>
            </p:custDataLst>
          </p:nvPr>
        </p:nvSpPr>
        <p:spPr>
          <a:xfrm>
            <a:off x="1198880" y="1894840"/>
            <a:ext cx="9799320" cy="4587240"/>
          </a:xfrm>
        </p:spPr>
        <p:txBody>
          <a:bodyPr>
            <a:noAutofit/>
          </a:bodyPr>
          <a:p>
            <a:r>
              <a:rPr lang="en-US" altLang="en-US" sz="2300" b="1">
                <a:latin typeface="Times New Roman" panose="02020603050405020304" charset="0"/>
                <a:cs typeface="Times New Roman" panose="02020603050405020304" charset="0"/>
              </a:rPr>
              <a:t>Comprehensive Mutual Fund Data Analysis, Risk Analytics &amp; Dashboard Development</a:t>
            </a:r>
            <a:endParaRPr lang="en-US" altLang="en-US" sz="2300" b="1">
              <a:latin typeface="Times New Roman" panose="02020603050405020304" charset="0"/>
              <a:cs typeface="Times New Roman" panose="02020603050405020304" charset="0"/>
            </a:endParaRPr>
          </a:p>
          <a:p>
            <a:endParaRPr lang="en-US" altLang="en-US" sz="2300" b="1">
              <a:latin typeface="Times New Roman" panose="02020603050405020304" charset="0"/>
              <a:cs typeface="Times New Roman" panose="02020603050405020304" charset="0"/>
            </a:endParaRPr>
          </a:p>
          <a:p>
            <a:r>
              <a:rPr lang="en-US" altLang="en-US" sz="2300" b="1">
                <a:latin typeface="Times New Roman" panose="02020603050405020304" charset="0"/>
                <a:cs typeface="Times New Roman" panose="02020603050405020304" charset="0"/>
              </a:rPr>
              <a:t>Prepared By:</a:t>
            </a:r>
            <a:endParaRPr lang="en-US" altLang="en-US" sz="2300" b="1">
              <a:latin typeface="Times New Roman" panose="02020603050405020304" charset="0"/>
              <a:cs typeface="Times New Roman" panose="02020603050405020304" charset="0"/>
            </a:endParaRPr>
          </a:p>
          <a:p>
            <a:r>
              <a:rPr lang="en-US" altLang="en-US" sz="2300" b="1">
                <a:latin typeface="Times New Roman" panose="02020603050405020304" charset="0"/>
                <a:cs typeface="Times New Roman" panose="02020603050405020304" charset="0"/>
              </a:rPr>
              <a:t>Yash Chowdhary</a:t>
            </a:r>
            <a:endParaRPr lang="en-US" altLang="en-US" sz="2300" b="1">
              <a:latin typeface="Times New Roman" panose="02020603050405020304" charset="0"/>
              <a:cs typeface="Times New Roman" panose="02020603050405020304" charset="0"/>
            </a:endParaRPr>
          </a:p>
          <a:p>
            <a:endParaRPr lang="en-US" altLang="en-US" sz="2300" b="1">
              <a:latin typeface="Times New Roman" panose="02020603050405020304" charset="0"/>
              <a:cs typeface="Times New Roman" panose="02020603050405020304" charset="0"/>
            </a:endParaRPr>
          </a:p>
          <a:p>
            <a:r>
              <a:rPr lang="en-US" altLang="en-US" sz="2300" b="1">
                <a:latin typeface="Times New Roman" panose="02020603050405020304" charset="0"/>
                <a:cs typeface="Times New Roman" panose="02020603050405020304" charset="0"/>
              </a:rPr>
              <a:t>Individual Capstone Project</a:t>
            </a:r>
            <a:endParaRPr lang="en-US" altLang="en-US" sz="2300" b="1">
              <a:latin typeface="Times New Roman" panose="02020603050405020304" charset="0"/>
              <a:cs typeface="Times New Roman" panose="02020603050405020304" charset="0"/>
            </a:endParaRPr>
          </a:p>
          <a:p>
            <a:endParaRPr lang="en-US" altLang="en-US" sz="2300" b="1">
              <a:latin typeface="Times New Roman" panose="02020603050405020304" charset="0"/>
              <a:cs typeface="Times New Roman" panose="02020603050405020304" charset="0"/>
            </a:endParaRPr>
          </a:p>
          <a:p>
            <a:r>
              <a:rPr lang="en-US" altLang="en-US" sz="2300" b="1">
                <a:latin typeface="Times New Roman" panose="02020603050405020304" charset="0"/>
                <a:cs typeface="Times New Roman" panose="02020603050405020304" charset="0"/>
              </a:rPr>
              <a:t>June 2026</a:t>
            </a:r>
            <a:endParaRPr lang="en-US" altLang="en-US" sz="2300" b="1">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US" altLang="en-US" sz="2800">
                <a:latin typeface="Times New Roman" panose="02020603050405020304" charset="0"/>
                <a:cs typeface="Times New Roman" panose="02020603050405020304" charset="0"/>
              </a:rPr>
              <a:t>Problem Statement &amp; Objectives</a:t>
            </a:r>
            <a:endParaRPr lang="en-US" altLang="en-US" sz="2800">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608330" y="1490345"/>
            <a:ext cx="10968990" cy="5127625"/>
          </a:xfrm>
        </p:spPr>
        <p:txBody>
          <a:bodyPr>
            <a:normAutofit/>
          </a:bodyPr>
          <a:p>
            <a:pPr algn="just"/>
            <a:r>
              <a:rPr lang="en-US" altLang="en-US" sz="1780">
                <a:latin typeface="Times New Roman" panose="02020603050405020304" charset="0"/>
                <a:cs typeface="Times New Roman" panose="02020603050405020304" charset="0"/>
              </a:rPr>
              <a:t>Problem Statement:</a:t>
            </a:r>
            <a:endParaRPr lang="en-US" altLang="en-US" sz="1780">
              <a:latin typeface="Times New Roman" panose="02020603050405020304" charset="0"/>
              <a:cs typeface="Times New Roman" panose="02020603050405020304" charset="0"/>
            </a:endParaRPr>
          </a:p>
          <a:p>
            <a:pPr marL="0" indent="0" algn="just">
              <a:buNone/>
            </a:pPr>
            <a:r>
              <a:rPr lang="en-US" altLang="en-US" sz="1780">
                <a:latin typeface="Times New Roman" panose="02020603050405020304" charset="0"/>
                <a:cs typeface="Times New Roman" panose="02020603050405020304" charset="0"/>
              </a:rPr>
              <a:t>The mutual fund industry generates large amounts of financial and investor data, making performance evaluation and investment analysis complex. Investors often struggle to compare schemes, assess risk, and make informed decisions due to fragmented financial information.</a:t>
            </a:r>
            <a:endParaRPr lang="en-US" altLang="en-US" sz="1780">
              <a:latin typeface="Times New Roman" panose="02020603050405020304" charset="0"/>
              <a:cs typeface="Times New Roman" panose="02020603050405020304" charset="0"/>
            </a:endParaRPr>
          </a:p>
          <a:p>
            <a:pPr algn="just"/>
            <a:endParaRPr lang="en-US" altLang="en-US" sz="1780">
              <a:latin typeface="Times New Roman" panose="02020603050405020304" charset="0"/>
              <a:cs typeface="Times New Roman" panose="02020603050405020304" charset="0"/>
            </a:endParaRPr>
          </a:p>
          <a:p>
            <a:pPr algn="just"/>
            <a:r>
              <a:rPr lang="en-US" altLang="en-US" sz="1780">
                <a:latin typeface="Times New Roman" panose="02020603050405020304" charset="0"/>
                <a:cs typeface="Times New Roman" panose="02020603050405020304" charset="0"/>
              </a:rPr>
              <a:t>Objectives:</a:t>
            </a:r>
            <a:endParaRPr lang="en-US" altLang="en-US" sz="1780">
              <a:latin typeface="Times New Roman" panose="02020603050405020304" charset="0"/>
              <a:cs typeface="Times New Roman" panose="02020603050405020304" charset="0"/>
            </a:endParaRPr>
          </a:p>
          <a:p>
            <a:pPr algn="just"/>
            <a:r>
              <a:rPr lang="en-US" altLang="en-US" sz="1780">
                <a:latin typeface="Times New Roman" panose="02020603050405020304" charset="0"/>
                <a:cs typeface="Times New Roman" panose="02020603050405020304" charset="0"/>
              </a:rPr>
              <a:t> Build an ETL pipeline for mutual fund data processing</a:t>
            </a:r>
            <a:endParaRPr lang="en-US" altLang="en-US" sz="1780">
              <a:latin typeface="Times New Roman" panose="02020603050405020304" charset="0"/>
              <a:cs typeface="Times New Roman" panose="02020603050405020304" charset="0"/>
            </a:endParaRPr>
          </a:p>
          <a:p>
            <a:pPr algn="just"/>
            <a:r>
              <a:rPr lang="en-US" altLang="en-US" sz="1780">
                <a:latin typeface="Times New Roman" panose="02020603050405020304" charset="0"/>
                <a:cs typeface="Times New Roman" panose="02020603050405020304" charset="0"/>
              </a:rPr>
              <a:t> Perform exploratory data analysis (EDA)</a:t>
            </a:r>
            <a:endParaRPr lang="en-US" altLang="en-US" sz="1780">
              <a:latin typeface="Times New Roman" panose="02020603050405020304" charset="0"/>
              <a:cs typeface="Times New Roman" panose="02020603050405020304" charset="0"/>
            </a:endParaRPr>
          </a:p>
          <a:p>
            <a:pPr algn="just"/>
            <a:r>
              <a:rPr lang="en-US" altLang="en-US" sz="1780">
                <a:latin typeface="Times New Roman" panose="02020603050405020304" charset="0"/>
                <a:cs typeface="Times New Roman" panose="02020603050405020304" charset="0"/>
              </a:rPr>
              <a:t> Evaluate performance using Sharpe Ratio, Alpha, Beta &amp; risk metrics</a:t>
            </a:r>
            <a:endParaRPr lang="en-US" altLang="en-US" sz="1780">
              <a:latin typeface="Times New Roman" panose="02020603050405020304" charset="0"/>
              <a:cs typeface="Times New Roman" panose="02020603050405020304" charset="0"/>
            </a:endParaRPr>
          </a:p>
          <a:p>
            <a:pPr algn="just"/>
            <a:r>
              <a:rPr lang="en-US" altLang="en-US" sz="1780">
                <a:latin typeface="Times New Roman" panose="02020603050405020304" charset="0"/>
                <a:cs typeface="Times New Roman" panose="02020603050405020304" charset="0"/>
              </a:rPr>
              <a:t> Develop interactive Power BI dashboards</a:t>
            </a:r>
            <a:endParaRPr lang="en-US" altLang="en-US" sz="1780">
              <a:latin typeface="Times New Roman" panose="02020603050405020304" charset="0"/>
              <a:cs typeface="Times New Roman" panose="02020603050405020304" charset="0"/>
            </a:endParaRPr>
          </a:p>
          <a:p>
            <a:pPr algn="just"/>
            <a:r>
              <a:rPr lang="en-US" altLang="en-US" sz="1780">
                <a:latin typeface="Times New Roman" panose="02020603050405020304" charset="0"/>
                <a:cs typeface="Times New Roman" panose="02020603050405020304" charset="0"/>
              </a:rPr>
              <a:t> Generate investment insights using analytics</a:t>
            </a:r>
            <a:endParaRPr lang="en-US" altLang="en-US" sz="1780">
              <a:latin typeface="Times New Roman" panose="02020603050405020304" charset="0"/>
              <a:cs typeface="Times New Roman" panose="02020603050405020304" charset="0"/>
            </a:endParaRPr>
          </a:p>
          <a:p>
            <a:pPr algn="just"/>
            <a:endParaRPr lang="en-US" altLang="en-US" sz="1780">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Picture Placeholder 6"/>
          <p:cNvPicPr>
            <a:picLocks noChangeAspect="1"/>
          </p:cNvPicPr>
          <p:nvPr>
            <p:ph type="pic" idx="1"/>
            <p:custDataLst>
              <p:tags r:id="rId1"/>
            </p:custDataLst>
          </p:nvPr>
        </p:nvPicPr>
        <p:blipFill>
          <a:blip r:embed="rId2"/>
          <a:stretch>
            <a:fillRect/>
          </a:stretch>
        </p:blipFill>
        <p:spPr>
          <a:xfrm>
            <a:off x="854710" y="1424305"/>
            <a:ext cx="4070350" cy="4958080"/>
          </a:xfrm>
          <a:prstGeom prst="rect">
            <a:avLst/>
          </a:prstGeom>
        </p:spPr>
      </p:pic>
      <p:sp>
        <p:nvSpPr>
          <p:cNvPr id="5" name="Text Placeholder 4"/>
          <p:cNvSpPr>
            <a:spLocks noGrp="1"/>
          </p:cNvSpPr>
          <p:nvPr>
            <p:ph type="body" sz="half" idx="2"/>
            <p:custDataLst>
              <p:tags r:id="rId3"/>
            </p:custDataLst>
          </p:nvPr>
        </p:nvSpPr>
        <p:spPr/>
        <p:txBody>
          <a:bodyPr>
            <a:normAutofit fontScale="90000" lnSpcReduction="20000"/>
          </a:bodyPr>
          <a:p>
            <a:r>
              <a:rPr lang="en-US" altLang="en-US">
                <a:latin typeface="Times New Roman" panose="02020603050405020304" charset="0"/>
                <a:cs typeface="Times New Roman" panose="02020603050405020304" charset="0"/>
              </a:rPr>
              <a:t>Datasets Used:</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Fund Master Data</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NAV History Data</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AUM by Fund House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Monthly SIP Inflows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Category Inflows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Industry Folio Count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Scheme Performance Data</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Investor Transaction Data</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Portfolio Holdings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Benchmark Indices</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p:txBody>
      </p:sp>
      <p:sp>
        <p:nvSpPr>
          <p:cNvPr id="6" name="Title 5"/>
          <p:cNvSpPr>
            <a:spLocks noGrp="1"/>
          </p:cNvSpPr>
          <p:nvPr>
            <p:ph type="title"/>
            <p:custDataLst>
              <p:tags r:id="rId4"/>
            </p:custDataLst>
          </p:nvPr>
        </p:nvSpPr>
        <p:spPr/>
        <p:txBody>
          <a:bodyPr/>
          <a:p>
            <a:pPr algn="ctr"/>
            <a:r>
              <a:rPr lang="en-US" altLang="en-US" sz="2800">
                <a:latin typeface="Times New Roman" panose="02020603050405020304" charset="0"/>
                <a:cs typeface="Times New Roman" panose="02020603050405020304" charset="0"/>
              </a:rPr>
              <a:t>Data Sources</a:t>
            </a:r>
            <a:endParaRPr lang="en-US" altLang="en-US" sz="2800">
              <a:latin typeface="Times New Roman" panose="02020603050405020304" charset="0"/>
              <a:cs typeface="Times New Roman" panose="02020603050405020304" charset="0"/>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Picture Placeholder 7"/>
          <p:cNvPicPr>
            <a:picLocks noChangeAspect="1"/>
          </p:cNvPicPr>
          <p:nvPr>
            <p:ph type="pic" idx="1"/>
            <p:custDataLst>
              <p:tags r:id="rId1"/>
            </p:custDataLst>
          </p:nvPr>
        </p:nvPicPr>
        <p:blipFill>
          <a:blip r:embed="rId2"/>
          <a:stretch>
            <a:fillRect/>
          </a:stretch>
        </p:blipFill>
        <p:spPr>
          <a:xfrm>
            <a:off x="1179195" y="1555115"/>
            <a:ext cx="4408170" cy="4607560"/>
          </a:xfrm>
          <a:prstGeom prst="rect">
            <a:avLst/>
          </a:prstGeom>
        </p:spPr>
      </p:pic>
      <p:sp>
        <p:nvSpPr>
          <p:cNvPr id="5" name="Text Placeholder 4"/>
          <p:cNvSpPr>
            <a:spLocks noGrp="1"/>
          </p:cNvSpPr>
          <p:nvPr>
            <p:ph type="body" sz="half" idx="2"/>
            <p:custDataLst>
              <p:tags r:id="rId3"/>
            </p:custDataLst>
          </p:nvPr>
        </p:nvSpPr>
        <p:spPr/>
        <p:txBody>
          <a:bodyPr>
            <a:noAutofit/>
          </a:bodyPr>
          <a:p>
            <a:pPr algn="just"/>
            <a:r>
              <a:rPr lang="en-US" altLang="en-US" sz="1500">
                <a:latin typeface="Times New Roman" panose="02020603050405020304" charset="0"/>
                <a:cs typeface="Times New Roman" panose="02020603050405020304" charset="0"/>
              </a:rPr>
              <a:t>The Extract, Transform, Load (ETL) pipeline was designed and implemented to automate the complete lifecycle of mutual fund data processing. Since the project involved multiple heterogeneous datasets containing scheme information, investor transactions, NAV history, SIP inflows, benchmark indices, and portfolio holdings, an efficient ETL framework was required to ensure consistency, reliability, and analytical readiness of the data. The ETL process plays a critical role in transforming raw and unstructured datasets into a clean, standardized, and structured format suitable for exploratory analysis, financial performance measurement, advanced analytics, and dashboard development.</a:t>
            </a:r>
            <a:endParaRPr lang="en-US" altLang="en-US" sz="1500">
              <a:latin typeface="Times New Roman" panose="02020603050405020304" charset="0"/>
              <a:cs typeface="Times New Roman" panose="02020603050405020304" charset="0"/>
            </a:endParaRPr>
          </a:p>
        </p:txBody>
      </p:sp>
      <p:sp>
        <p:nvSpPr>
          <p:cNvPr id="6" name="Title 5"/>
          <p:cNvSpPr>
            <a:spLocks noGrp="1"/>
          </p:cNvSpPr>
          <p:nvPr>
            <p:ph type="title"/>
            <p:custDataLst>
              <p:tags r:id="rId4"/>
            </p:custDataLst>
          </p:nvPr>
        </p:nvSpPr>
        <p:spPr/>
        <p:txBody>
          <a:bodyPr/>
          <a:p>
            <a:pPr algn="ctr"/>
            <a:r>
              <a:rPr lang="en-US" altLang="en-US" sz="2800">
                <a:latin typeface="Times New Roman" panose="02020603050405020304" charset="0"/>
                <a:cs typeface="Times New Roman" panose="02020603050405020304" charset="0"/>
              </a:rPr>
              <a:t>ETL Pipeline Architecture</a:t>
            </a:r>
            <a:endParaRPr lang="en-US" altLang="en-US" sz="2800">
              <a:latin typeface="Times New Roman" panose="02020603050405020304" charset="0"/>
              <a:cs typeface="Times New Roman" panose="02020603050405020304" charset="0"/>
            </a:endParaRPr>
          </a:p>
        </p:txBody>
      </p:sp>
      <p:pic>
        <p:nvPicPr>
          <p:cNvPr id="7" name="Picture 6"/>
          <p:cNvPicPr/>
          <p:nvPr/>
        </p:nvPicPr>
        <p:blipFill>
          <a:blip r:embed="rId5">
            <a:extLst>
              <a:ext uri="{96DAC541-7B7A-43D3-8B79-37D633B846F1}">
                <asvg:svgBlip xmlns:asvg="http://schemas.microsoft.com/office/drawing/2016/SVG/main" r:embed="rId6"/>
              </a:ext>
            </a:extLst>
          </a:blip>
          <a:stretch>
            <a:fillRect/>
          </a:stretch>
        </p:blipFill>
        <p:spPr>
          <a:xfrm>
            <a:off x="5905500" y="3238500"/>
            <a:ext cx="381000" cy="381000"/>
          </a:xfrm>
          <a:prstGeom prst="rect">
            <a:avLst/>
          </a:prstGeom>
        </p:spPr>
      </p:pic>
    </p:spTree>
    <p:custDataLst>
      <p:tags r:id="rId7"/>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normAutofit/>
          </a:bodyPr>
          <a:p>
            <a:pPr algn="ctr"/>
            <a:r>
              <a:rPr lang="en-US" altLang="en-US" sz="2800">
                <a:latin typeface="Times New Roman" panose="02020603050405020304" charset="0"/>
                <a:cs typeface="Times New Roman" panose="02020603050405020304" charset="0"/>
              </a:rPr>
              <a:t>EDA Highlights</a:t>
            </a:r>
            <a:endParaRPr lang="en-US" altLang="en-US" sz="2800">
              <a:latin typeface="Times New Roman" panose="02020603050405020304" charset="0"/>
              <a:cs typeface="Times New Roman" panose="02020603050405020304" charset="0"/>
            </a:endParaRPr>
          </a:p>
        </p:txBody>
      </p:sp>
      <p:pic>
        <p:nvPicPr>
          <p:cNvPr id="7" name="Content Placeholder 6"/>
          <p:cNvPicPr>
            <a:picLocks noChangeAspect="1"/>
          </p:cNvPicPr>
          <p:nvPr>
            <p:ph idx="1"/>
            <p:custDataLst>
              <p:tags r:id="rId2"/>
            </p:custDataLst>
          </p:nvPr>
        </p:nvPicPr>
        <p:blipFill>
          <a:blip r:embed="rId3"/>
          <a:stretch>
            <a:fillRect/>
          </a:stretch>
        </p:blipFill>
        <p:spPr>
          <a:xfrm>
            <a:off x="1078230" y="1481455"/>
            <a:ext cx="10115550" cy="4775200"/>
          </a:xfrm>
          <a:prstGeom prst="rect">
            <a:avLst/>
          </a:prstGeom>
        </p:spPr>
      </p:pic>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sz="2800">
                <a:latin typeface="Times New Roman" panose="02020603050405020304" charset="0"/>
                <a:cs typeface="Times New Roman" panose="02020603050405020304" charset="0"/>
              </a:rPr>
              <a:t>Highlight 2-</a:t>
            </a:r>
            <a:endParaRPr lang="en-US" sz="2800">
              <a:latin typeface="Times New Roman" panose="02020603050405020304" charset="0"/>
              <a:cs typeface="Times New Roman" panose="02020603050405020304" charset="0"/>
            </a:endParaRPr>
          </a:p>
        </p:txBody>
      </p:sp>
      <p:pic>
        <p:nvPicPr>
          <p:cNvPr id="4" name="Content Placeholder 3"/>
          <p:cNvPicPr>
            <a:picLocks noChangeAspect="1"/>
          </p:cNvPicPr>
          <p:nvPr>
            <p:ph idx="1"/>
            <p:custDataLst>
              <p:tags r:id="rId2"/>
            </p:custDataLst>
          </p:nvPr>
        </p:nvPicPr>
        <p:blipFill>
          <a:blip r:embed="rId3"/>
          <a:stretch>
            <a:fillRect/>
          </a:stretch>
        </p:blipFill>
        <p:spPr>
          <a:xfrm>
            <a:off x="1189990" y="1489710"/>
            <a:ext cx="9672955" cy="4627880"/>
          </a:xfrm>
          <a:prstGeom prst="rect">
            <a:avLst/>
          </a:prstGeom>
        </p:spPr>
      </p:pic>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Picture Placeholder 6"/>
          <p:cNvPicPr>
            <a:picLocks noChangeAspect="1"/>
          </p:cNvPicPr>
          <p:nvPr>
            <p:ph type="pic" idx="1"/>
            <p:custDataLst>
              <p:tags r:id="rId1"/>
            </p:custDataLst>
          </p:nvPr>
        </p:nvPicPr>
        <p:blipFill>
          <a:blip r:embed="rId2"/>
          <a:stretch>
            <a:fillRect/>
          </a:stretch>
        </p:blipFill>
        <p:spPr>
          <a:xfrm>
            <a:off x="608330" y="1649730"/>
            <a:ext cx="5233035" cy="3594735"/>
          </a:xfrm>
          <a:prstGeom prst="rect">
            <a:avLst/>
          </a:prstGeom>
        </p:spPr>
      </p:pic>
      <p:sp>
        <p:nvSpPr>
          <p:cNvPr id="5" name="Text Placeholder 4"/>
          <p:cNvSpPr>
            <a:spLocks noGrp="1"/>
          </p:cNvSpPr>
          <p:nvPr>
            <p:ph type="body" sz="half" idx="2"/>
            <p:custDataLst>
              <p:tags r:id="rId3"/>
            </p:custDataLst>
          </p:nvPr>
        </p:nvSpPr>
        <p:spPr/>
        <p:txBody>
          <a:bodyPr>
            <a:normAutofit lnSpcReduction="10000"/>
          </a:bodyPr>
          <a:p>
            <a:pPr algn="just"/>
            <a:r>
              <a:rPr lang="en-US" altLang="en-US">
                <a:latin typeface="Times New Roman" panose="02020603050405020304" charset="0"/>
                <a:cs typeface="Times New Roman" panose="02020603050405020304" charset="0"/>
              </a:rPr>
              <a:t>Sharpe Ratio was used to measure risk-adjusted returns of mutual fund schemes. It evaluates how much excess return is generated for every unit of risk undertaken. Higher Sharpe ratios indicate better risk-adjusted performance, whereas lower values indicate inefficient return generation relative to volatility. The analysis revealed differences in fund efficiency across categories, highlighting schemes that delivered stronger returns with relatively controlled risk exposure.</a:t>
            </a:r>
            <a:endParaRPr lang="en-US" altLang="en-US">
              <a:latin typeface="Times New Roman" panose="02020603050405020304" charset="0"/>
              <a:cs typeface="Times New Roman" panose="02020603050405020304" charset="0"/>
            </a:endParaRPr>
          </a:p>
        </p:txBody>
      </p:sp>
      <p:sp>
        <p:nvSpPr>
          <p:cNvPr id="6" name="Title 5"/>
          <p:cNvSpPr>
            <a:spLocks noGrp="1"/>
          </p:cNvSpPr>
          <p:nvPr>
            <p:ph type="title"/>
            <p:custDataLst>
              <p:tags r:id="rId4"/>
            </p:custDataLst>
          </p:nvPr>
        </p:nvSpPr>
        <p:spPr/>
        <p:txBody>
          <a:bodyPr/>
          <a:p>
            <a:pPr algn="ctr"/>
            <a:r>
              <a:rPr lang="en-US" altLang="en-US" sz="2800">
                <a:latin typeface="Times New Roman" panose="02020603050405020304" charset="0"/>
                <a:cs typeface="Times New Roman" panose="02020603050405020304" charset="0"/>
              </a:rPr>
              <a:t>Performance Analytics</a:t>
            </a:r>
            <a:endParaRPr lang="en-US" altLang="en-US" sz="2800">
              <a:latin typeface="Times New Roman" panose="02020603050405020304" charset="0"/>
              <a:cs typeface="Times New Roman" panose="02020603050405020304" charset="0"/>
            </a:endParaRPr>
          </a:p>
        </p:txBody>
      </p:sp>
    </p:spTree>
    <p:custDataLst>
      <p:tags r:id="rId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Picture Placeholder 6"/>
          <p:cNvPicPr>
            <a:picLocks noChangeAspect="1"/>
          </p:cNvPicPr>
          <p:nvPr>
            <p:ph type="pic" idx="1"/>
            <p:custDataLst>
              <p:tags r:id="rId1"/>
            </p:custDataLst>
          </p:nvPr>
        </p:nvPicPr>
        <p:blipFill>
          <a:blip r:embed="rId2"/>
          <a:stretch>
            <a:fillRect/>
          </a:stretch>
        </p:blipFill>
        <p:spPr>
          <a:xfrm>
            <a:off x="1091565" y="1796415"/>
            <a:ext cx="3981450" cy="3511550"/>
          </a:xfrm>
          <a:prstGeom prst="rect">
            <a:avLst/>
          </a:prstGeom>
        </p:spPr>
      </p:pic>
      <p:sp>
        <p:nvSpPr>
          <p:cNvPr id="5" name="Text Placeholder 4"/>
          <p:cNvSpPr>
            <a:spLocks noGrp="1"/>
          </p:cNvSpPr>
          <p:nvPr>
            <p:ph type="body" sz="half" idx="2"/>
            <p:custDataLst>
              <p:tags r:id="rId3"/>
            </p:custDataLst>
          </p:nvPr>
        </p:nvSpPr>
        <p:spPr/>
        <p:txBody>
          <a:bodyPr>
            <a:noAutofit/>
          </a:bodyPr>
          <a:p>
            <a:pPr algn="just"/>
            <a:r>
              <a:rPr lang="en-US" altLang="en-US" sz="1300">
                <a:latin typeface="Times New Roman" panose="02020603050405020304" charset="0"/>
                <a:cs typeface="Times New Roman" panose="02020603050405020304" charset="0"/>
              </a:rPr>
              <a:t>Alpha measures a mutual fund’s ability to outperform its benchmark after adjusting for market risk. Positive Alpha values indicate that a scheme generated returns above benchmark expectations. The analysis showed that certain schemes consistently demonstrated superior active management performance by outperforming benchmark indices.</a:t>
            </a:r>
            <a:endParaRPr lang="en-US" altLang="en-US" sz="1300">
              <a:latin typeface="Times New Roman" panose="02020603050405020304" charset="0"/>
              <a:cs typeface="Times New Roman" panose="02020603050405020304" charset="0"/>
            </a:endParaRPr>
          </a:p>
          <a:p>
            <a:pPr algn="just"/>
            <a:r>
              <a:rPr lang="en-US" altLang="en-US" sz="1300">
                <a:latin typeface="Times New Roman" panose="02020603050405020304" charset="0"/>
                <a:cs typeface="Times New Roman" panose="02020603050405020304" charset="0"/>
              </a:rPr>
              <a:t>Beta analysis was conducted to measure fund sensitivity relativeto market movement.</a:t>
            </a:r>
            <a:endParaRPr lang="en-US" altLang="en-US" sz="1300">
              <a:latin typeface="Times New Roman" panose="02020603050405020304" charset="0"/>
              <a:cs typeface="Times New Roman" panose="02020603050405020304" charset="0"/>
            </a:endParaRPr>
          </a:p>
          <a:p>
            <a:pPr algn="just"/>
            <a:r>
              <a:rPr lang="en-US" altLang="en-US" sz="1300">
                <a:latin typeface="Times New Roman" panose="02020603050405020304" charset="0"/>
                <a:cs typeface="Times New Roman" panose="02020603050405020304" charset="0"/>
              </a:rPr>
              <a:t>• Beta &gt; 1 indicates higher volatility than the market</a:t>
            </a:r>
            <a:endParaRPr lang="en-US" altLang="en-US" sz="1300">
              <a:latin typeface="Times New Roman" panose="02020603050405020304" charset="0"/>
              <a:cs typeface="Times New Roman" panose="02020603050405020304" charset="0"/>
            </a:endParaRPr>
          </a:p>
          <a:p>
            <a:pPr algn="just"/>
            <a:r>
              <a:rPr lang="en-US" altLang="en-US" sz="1300">
                <a:latin typeface="Times New Roman" panose="02020603050405020304" charset="0"/>
                <a:cs typeface="Times New Roman" panose="02020603050405020304" charset="0"/>
              </a:rPr>
              <a:t> • Beta &lt; 1 indicates lower volatility than the market</a:t>
            </a:r>
            <a:endParaRPr lang="en-US" altLang="en-US" sz="1300">
              <a:latin typeface="Times New Roman" panose="02020603050405020304" charset="0"/>
              <a:cs typeface="Times New Roman" panose="02020603050405020304" charset="0"/>
            </a:endParaRPr>
          </a:p>
          <a:p>
            <a:pPr algn="just"/>
            <a:r>
              <a:rPr lang="en-US" altLang="en-US" sz="1300">
                <a:latin typeface="Times New Roman" panose="02020603050405020304" charset="0"/>
                <a:cs typeface="Times New Roman" panose="02020603050405020304" charset="0"/>
              </a:rPr>
              <a:t> • Beta = 1 indicates performance aligned with market movement</a:t>
            </a:r>
            <a:endParaRPr lang="en-US" altLang="en-US" sz="1300">
              <a:latin typeface="Times New Roman" panose="02020603050405020304" charset="0"/>
              <a:cs typeface="Times New Roman" panose="02020603050405020304" charset="0"/>
            </a:endParaRPr>
          </a:p>
          <a:p>
            <a:pPr algn="just"/>
            <a:r>
              <a:rPr lang="en-US" altLang="en-US" sz="1300">
                <a:latin typeface="Times New Roman" panose="02020603050405020304" charset="0"/>
                <a:cs typeface="Times New Roman" panose="02020603050405020304" charset="0"/>
              </a:rPr>
              <a:t>The results helped classify funds based on market sensitivity and investment risk characteristics.</a:t>
            </a:r>
            <a:endParaRPr lang="en-US" altLang="en-US" sz="1300">
              <a:latin typeface="Times New Roman" panose="02020603050405020304" charset="0"/>
              <a:cs typeface="Times New Roman" panose="02020603050405020304" charset="0"/>
            </a:endParaRPr>
          </a:p>
        </p:txBody>
      </p:sp>
      <p:sp>
        <p:nvSpPr>
          <p:cNvPr id="6" name="Title 5"/>
          <p:cNvSpPr>
            <a:spLocks noGrp="1"/>
          </p:cNvSpPr>
          <p:nvPr>
            <p:ph type="title"/>
            <p:custDataLst>
              <p:tags r:id="rId4"/>
            </p:custDataLst>
          </p:nvPr>
        </p:nvSpPr>
        <p:spPr/>
        <p:txBody>
          <a:bodyPr/>
          <a:p>
            <a:r>
              <a:rPr lang="en-US" sz="2800">
                <a:latin typeface="Times New Roman" panose="02020603050405020304" charset="0"/>
                <a:cs typeface="Times New Roman" panose="02020603050405020304" charset="0"/>
              </a:rPr>
              <a:t>Performance Analytics 2-</a:t>
            </a:r>
            <a:endParaRPr lang="en-US" sz="2800">
              <a:latin typeface="Times New Roman" panose="02020603050405020304" charset="0"/>
              <a:cs typeface="Times New Roman" panose="02020603050405020304" charset="0"/>
            </a:endParaRPr>
          </a:p>
        </p:txBody>
      </p:sp>
    </p:spTree>
    <p:custDataLst>
      <p:tags r:id="rId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pPr algn="ctr"/>
            <a:r>
              <a:rPr lang="en-US" altLang="en-US" sz="2800">
                <a:latin typeface="Times New Roman" panose="02020603050405020304" charset="0"/>
                <a:cs typeface="Times New Roman" panose="02020603050405020304" charset="0"/>
              </a:rPr>
              <a:t>Power BI Dashboard</a:t>
            </a:r>
            <a:endParaRPr lang="en-US" altLang="en-US" sz="2800">
              <a:latin typeface="Times New Roman" panose="02020603050405020304" charset="0"/>
              <a:cs typeface="Times New Roman" panose="02020603050405020304" charset="0"/>
            </a:endParaRPr>
          </a:p>
        </p:txBody>
      </p:sp>
      <p:sp>
        <p:nvSpPr>
          <p:cNvPr id="5" name="Content Placeholder 4"/>
          <p:cNvSpPr>
            <a:spLocks noGrp="1"/>
          </p:cNvSpPr>
          <p:nvPr>
            <p:ph idx="1"/>
            <p:custDataLst>
              <p:tags r:id="rId2"/>
            </p:custDataLst>
          </p:nvPr>
        </p:nvSpPr>
        <p:spPr/>
        <p:txBody>
          <a:bodyPr/>
          <a:p>
            <a:r>
              <a:rPr lang="en-US" altLang="en-US"/>
              <a:t>An interactive Power BI dashboard was developed to visualize fund performance, SIP trends, investor behaviour, and benchmark analysis using dynamic filters and KPI cards.</a:t>
            </a:r>
            <a:endParaRPr lang="en-US" altLang="en-US"/>
          </a:p>
          <a:p>
            <a:endParaRPr lang="en-US" altLang="en-US"/>
          </a:p>
        </p:txBody>
      </p:sp>
      <p:pic>
        <p:nvPicPr>
          <p:cNvPr id="6" name="Picture 5"/>
          <p:cNvPicPr>
            <a:picLocks noChangeAspect="1"/>
          </p:cNvPicPr>
          <p:nvPr/>
        </p:nvPicPr>
        <p:blipFill>
          <a:blip r:embed="rId3"/>
          <a:stretch>
            <a:fillRect/>
          </a:stretch>
        </p:blipFill>
        <p:spPr>
          <a:xfrm>
            <a:off x="1392555" y="2459355"/>
            <a:ext cx="9143365" cy="3979545"/>
          </a:xfrm>
          <a:prstGeom prst="rect">
            <a:avLst/>
          </a:prstGeom>
        </p:spPr>
      </p:pic>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Content Placeholder 5"/>
          <p:cNvPicPr>
            <a:picLocks noChangeAspect="1"/>
          </p:cNvPicPr>
          <p:nvPr>
            <p:ph sz="quarter" idx="13"/>
            <p:custDataLst>
              <p:tags r:id="rId1"/>
            </p:custDataLst>
          </p:nvPr>
        </p:nvPicPr>
        <p:blipFill>
          <a:blip r:embed="rId2"/>
          <a:stretch>
            <a:fillRect/>
          </a:stretch>
        </p:blipFill>
        <p:spPr>
          <a:xfrm>
            <a:off x="204470" y="198120"/>
            <a:ext cx="7478395" cy="3378200"/>
          </a:xfrm>
          <a:prstGeom prst="rect">
            <a:avLst/>
          </a:prstGeom>
        </p:spPr>
      </p:pic>
      <p:pic>
        <p:nvPicPr>
          <p:cNvPr id="9" name="Picture 8"/>
          <p:cNvPicPr>
            <a:picLocks noChangeAspect="1"/>
          </p:cNvPicPr>
          <p:nvPr/>
        </p:nvPicPr>
        <p:blipFill>
          <a:blip r:embed="rId3"/>
          <a:stretch>
            <a:fillRect/>
          </a:stretch>
        </p:blipFill>
        <p:spPr>
          <a:xfrm>
            <a:off x="3993515" y="3576320"/>
            <a:ext cx="7386320" cy="3001010"/>
          </a:xfrm>
          <a:prstGeom prst="rect">
            <a:avLst/>
          </a:prstGeom>
        </p:spPr>
      </p:pic>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Content Placeholder 2"/>
          <p:cNvPicPr>
            <a:picLocks noChangeAspect="1"/>
          </p:cNvPicPr>
          <p:nvPr>
            <p:ph sz="quarter" idx="13"/>
            <p:custDataLst>
              <p:tags r:id="rId1"/>
            </p:custDataLst>
          </p:nvPr>
        </p:nvPicPr>
        <p:blipFill>
          <a:blip r:embed="rId2"/>
          <a:stretch>
            <a:fillRect/>
          </a:stretch>
        </p:blipFill>
        <p:spPr>
          <a:xfrm>
            <a:off x="1475740" y="908685"/>
            <a:ext cx="9621520" cy="4323715"/>
          </a:xfrm>
          <a:prstGeom prst="rect">
            <a:avLst/>
          </a:prstGeom>
        </p:spPr>
      </p:pic>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ctr"/>
            <a:r>
              <a:rPr lang="en-US" altLang="en-US" sz="2800">
                <a:latin typeface="Times New Roman" panose="02020603050405020304" charset="0"/>
                <a:cs typeface="Times New Roman" panose="02020603050405020304" charset="0"/>
              </a:rPr>
              <a:t>Key Findings</a:t>
            </a:r>
            <a:endParaRPr lang="en-US" altLang="en-US" sz="2800">
              <a:latin typeface="Times New Roman" panose="02020603050405020304" charset="0"/>
              <a:cs typeface="Times New Roman" panose="02020603050405020304" charset="0"/>
            </a:endParaRPr>
          </a:p>
        </p:txBody>
      </p:sp>
      <p:sp>
        <p:nvSpPr>
          <p:cNvPr id="5" name="Text Placeholder 4"/>
          <p:cNvSpPr>
            <a:spLocks noGrp="1"/>
          </p:cNvSpPr>
          <p:nvPr>
            <p:ph type="body" idx="1"/>
          </p:nvPr>
        </p:nvSpPr>
        <p:spPr>
          <a:xfrm>
            <a:off x="608330" y="1490345"/>
            <a:ext cx="10968990" cy="5104765"/>
          </a:xfrm>
        </p:spPr>
        <p:txBody>
          <a:bodyPr>
            <a:noAutofit/>
          </a:bodyPr>
          <a:p>
            <a:r>
              <a:rPr lang="en-US" altLang="en-US" sz="1300">
                <a:latin typeface="Times New Roman" panose="02020603050405020304" charset="0"/>
                <a:cs typeface="Times New Roman" panose="02020603050405020304" charset="0"/>
              </a:rPr>
              <a:t>Strong Industry Growth Trend</a:t>
            </a:r>
            <a:endParaRPr lang="en-US" altLang="en-US" sz="1300">
              <a:latin typeface="Times New Roman" panose="02020603050405020304" charset="0"/>
              <a:cs typeface="Times New Roman" panose="02020603050405020304" charset="0"/>
            </a:endParaRPr>
          </a:p>
          <a:p>
            <a:pPr marL="0" indent="0">
              <a:buNone/>
            </a:pPr>
            <a:r>
              <a:rPr lang="en-US" altLang="en-US" sz="1300">
                <a:latin typeface="Times New Roman" panose="02020603050405020304" charset="0"/>
                <a:cs typeface="Times New Roman" panose="02020603050405020304" charset="0"/>
              </a:rPr>
              <a:t>Mutual fund AUM and SIP inflows increased significantly between 2022–2025, indicating growing investor participation and market confidence.</a:t>
            </a:r>
            <a:endParaRPr lang="en-US" altLang="en-US" sz="1300">
              <a:latin typeface="Times New Roman" panose="02020603050405020304" charset="0"/>
              <a:cs typeface="Times New Roman" panose="02020603050405020304" charset="0"/>
            </a:endParaRPr>
          </a:p>
          <a:p>
            <a:r>
              <a:rPr lang="en-US" altLang="en-US" sz="1300">
                <a:latin typeface="Times New Roman" panose="02020603050405020304" charset="0"/>
                <a:cs typeface="Times New Roman" panose="02020603050405020304" charset="0"/>
              </a:rPr>
              <a:t>Market Leadership Concentration:</a:t>
            </a:r>
            <a:endParaRPr lang="en-US" altLang="en-US" sz="1300">
              <a:latin typeface="Times New Roman" panose="02020603050405020304" charset="0"/>
              <a:cs typeface="Times New Roman" panose="02020603050405020304" charset="0"/>
            </a:endParaRPr>
          </a:p>
          <a:p>
            <a:pPr marL="0" indent="0">
              <a:buNone/>
            </a:pPr>
            <a:r>
              <a:rPr lang="en-US" altLang="en-US" sz="1300">
                <a:latin typeface="Times New Roman" panose="02020603050405020304" charset="0"/>
                <a:cs typeface="Times New Roman" panose="02020603050405020304" charset="0"/>
              </a:rPr>
              <a:t>SBI Mutual Fund, ICICI Prudential, and HDFC Mutual Fund consistently held dominant market share in terms of AUM.</a:t>
            </a:r>
            <a:endParaRPr lang="en-US" altLang="en-US" sz="1300">
              <a:latin typeface="Times New Roman" panose="02020603050405020304" charset="0"/>
              <a:cs typeface="Times New Roman" panose="02020603050405020304" charset="0"/>
            </a:endParaRPr>
          </a:p>
          <a:p>
            <a:r>
              <a:rPr lang="en-US" altLang="en-US" sz="1300">
                <a:latin typeface="Times New Roman" panose="02020603050405020304" charset="0"/>
                <a:cs typeface="Times New Roman" panose="02020603050405020304" charset="0"/>
              </a:rPr>
              <a:t>Risk–Return Trade-off:</a:t>
            </a:r>
            <a:endParaRPr lang="en-US" altLang="en-US" sz="1300">
              <a:latin typeface="Times New Roman" panose="02020603050405020304" charset="0"/>
              <a:cs typeface="Times New Roman" panose="02020603050405020304" charset="0"/>
            </a:endParaRPr>
          </a:p>
          <a:p>
            <a:pPr marL="0" indent="0">
              <a:buNone/>
            </a:pPr>
            <a:r>
              <a:rPr lang="en-US" altLang="en-US" sz="1300">
                <a:latin typeface="Times New Roman" panose="02020603050405020304" charset="0"/>
                <a:cs typeface="Times New Roman" panose="02020603050405020304" charset="0"/>
              </a:rPr>
              <a:t>Sharpe Ratio analysis showed that higher returns did not always result in better risk-adjusted performance.</a:t>
            </a:r>
            <a:endParaRPr lang="en-US" altLang="en-US" sz="1300">
              <a:latin typeface="Times New Roman" panose="02020603050405020304" charset="0"/>
              <a:cs typeface="Times New Roman" panose="02020603050405020304" charset="0"/>
            </a:endParaRPr>
          </a:p>
          <a:p>
            <a:r>
              <a:rPr lang="en-US" altLang="en-US" sz="1300">
                <a:latin typeface="Times New Roman" panose="02020603050405020304" charset="0"/>
                <a:cs typeface="Times New Roman" panose="02020603050405020304" charset="0"/>
              </a:rPr>
              <a:t>Category-wise Investment Preference:</a:t>
            </a:r>
            <a:endParaRPr lang="en-US" altLang="en-US" sz="1300">
              <a:latin typeface="Times New Roman" panose="02020603050405020304" charset="0"/>
              <a:cs typeface="Times New Roman" panose="02020603050405020304" charset="0"/>
            </a:endParaRPr>
          </a:p>
          <a:p>
            <a:pPr marL="0" indent="0">
              <a:buNone/>
            </a:pPr>
            <a:r>
              <a:rPr lang="en-US" altLang="en-US" sz="1300">
                <a:latin typeface="Times New Roman" panose="02020603050405020304" charset="0"/>
                <a:cs typeface="Times New Roman" panose="02020603050405020304" charset="0"/>
              </a:rPr>
              <a:t>Liquid, Large Cap, and Sectoral/Thematic funds attracted higher investor inflows across the study period.</a:t>
            </a:r>
            <a:endParaRPr lang="en-US" altLang="en-US" sz="1300">
              <a:latin typeface="Times New Roman" panose="02020603050405020304" charset="0"/>
              <a:cs typeface="Times New Roman" panose="02020603050405020304" charset="0"/>
            </a:endParaRPr>
          </a:p>
          <a:p>
            <a:r>
              <a:rPr lang="en-US" altLang="en-US" sz="1300">
                <a:latin typeface="Times New Roman" panose="02020603050405020304" charset="0"/>
                <a:cs typeface="Times New Roman" panose="02020603050405020304" charset="0"/>
              </a:rPr>
              <a:t>Investor Behaviour Insights:</a:t>
            </a:r>
            <a:endParaRPr lang="en-US" altLang="en-US" sz="1300">
              <a:latin typeface="Times New Roman" panose="02020603050405020304" charset="0"/>
              <a:cs typeface="Times New Roman" panose="02020603050405020304" charset="0"/>
            </a:endParaRPr>
          </a:p>
          <a:p>
            <a:pPr marL="0" indent="0">
              <a:buNone/>
            </a:pPr>
            <a:r>
              <a:rPr lang="en-US" altLang="en-US" sz="1300">
                <a:latin typeface="Times New Roman" panose="02020603050405020304" charset="0"/>
                <a:cs typeface="Times New Roman" panose="02020603050405020304" charset="0"/>
              </a:rPr>
              <a:t>Investment patterns varied across age groups, transaction types, and geographic regions.</a:t>
            </a:r>
            <a:endParaRPr lang="en-US" altLang="en-US" sz="1300">
              <a:latin typeface="Times New Roman" panose="02020603050405020304" charset="0"/>
              <a:cs typeface="Times New Roman" panose="02020603050405020304" charset="0"/>
            </a:endParaRPr>
          </a:p>
          <a:p>
            <a:r>
              <a:rPr lang="en-US" altLang="en-US" sz="1300">
                <a:latin typeface="Times New Roman" panose="02020603050405020304" charset="0"/>
                <a:cs typeface="Times New Roman" panose="02020603050405020304" charset="0"/>
              </a:rPr>
              <a:t>Business Intelligence Impact:</a:t>
            </a:r>
            <a:endParaRPr lang="en-US" altLang="en-US" sz="1300">
              <a:latin typeface="Times New Roman" panose="02020603050405020304" charset="0"/>
              <a:cs typeface="Times New Roman" panose="02020603050405020304" charset="0"/>
            </a:endParaRPr>
          </a:p>
          <a:p>
            <a:pPr marL="0" indent="0">
              <a:buNone/>
            </a:pPr>
            <a:r>
              <a:rPr lang="en-US" altLang="en-US" sz="1300">
                <a:latin typeface="Times New Roman" panose="02020603050405020304" charset="0"/>
                <a:cs typeface="Times New Roman" panose="02020603050405020304" charset="0"/>
              </a:rPr>
              <a:t>The Power BI dashboard enabled interactive analysis through KPIs, slicers, and dynamic visualizations for better decision-making.</a:t>
            </a:r>
            <a:endParaRPr lang="en-US" altLang="en-US" sz="1300">
              <a:latin typeface="Times New Roman" panose="02020603050405020304" charset="0"/>
              <a:cs typeface="Times New Roman" panose="02020603050405020304" charset="0"/>
            </a:endParaRPr>
          </a:p>
          <a:p>
            <a:endParaRPr lang="en-US" altLang="en-US" sz="300">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t>THANK YOU </a:t>
            </a:r>
            <a:endParaRPr lang="en-US"/>
          </a:p>
        </p:txBody>
      </p:sp>
      <p:sp>
        <p:nvSpPr>
          <p:cNvPr id="5" name="Text Placeholder 4"/>
          <p:cNvSpPr>
            <a:spLocks noGrp="1"/>
          </p:cNvSpPr>
          <p:nvPr>
            <p:ph type="body" sz="quarter" idx="13"/>
            <p:custDataLst>
              <p:tags r:id="rId2"/>
            </p:custDataLst>
          </p:nvPr>
        </p:nvSpPr>
        <p:spPr/>
        <p:txBody>
          <a:bodyPr>
            <a:normAutofit lnSpcReduction="10000"/>
          </a:bodyPr>
          <a:p>
            <a:r>
              <a:rPr lang="en-US"/>
              <a:t>Prepared by: Yash Chowdhary </a:t>
            </a:r>
            <a:endParaRPr 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0508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0.xml><?xml version="1.0" encoding="utf-8"?>
<p:tagLst xmlns:p="http://schemas.openxmlformats.org/presentationml/2006/main">
  <p:tag name="KSO_WM_BEAUTIFY_FLAG" val="#wm#"/>
  <p:tag name="KSO_WM_TEMPLATE_CATEGORY" val="custom"/>
  <p:tag name="KSO_WM_TEMPLATE_INDEX" val="2020508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3.xml><?xml version="1.0" encoding="utf-8"?>
<p:tagLst xmlns:p="http://schemas.openxmlformats.org/presentationml/2006/main">
  <p:tag name="KSO_WM_BEAUTIFY_FLAG" val="#wm#"/>
  <p:tag name="KSO_WM_TEMPLATE_CATEGORY" val="custom"/>
  <p:tag name="KSO_WM_TEMPLATE_INDEX" val="2020508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7.xml><?xml version="1.0" encoding="utf-8"?>
<p:tagLst xmlns:p="http://schemas.openxmlformats.org/presentationml/2006/main">
  <p:tag name="KSO_WM_BEAUTIFY_FLAG" val="#wm#"/>
  <p:tag name="KSO_WM_TEMPLATE_CATEGORY" val="custom"/>
  <p:tag name="KSO_WM_TEMPLATE_INDEX" val="20205081"/>
</p:tagLst>
</file>

<file path=ppt/tags/tag98.xml><?xml version="1.0" encoding="utf-8"?>
<p:tagLst xmlns:p="http://schemas.openxmlformats.org/presentationml/2006/main">
  <p:tag name="KSO_WM_BEAUTIFY_FLAG" val="#wm#"/>
  <p:tag name="KSO_WM_TEMPLATE_CATEGORY" val="custom"/>
  <p:tag name="KSO_WM_TEMPLATE_INDEX" val="2020508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1.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4035</Words>
  <Application>WPS Presentation</Application>
  <PresentationFormat>Widescreen</PresentationFormat>
  <Paragraphs>86</Paragraphs>
  <Slides>13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vt:i4>
      </vt:variant>
    </vt:vector>
  </HeadingPairs>
  <TitlesOfParts>
    <vt:vector size="22" baseType="lpstr">
      <vt:lpstr>Arial</vt:lpstr>
      <vt:lpstr>SimSun</vt:lpstr>
      <vt:lpstr>Wingdings</vt:lpstr>
      <vt:lpstr>Wingdings</vt:lpstr>
      <vt:lpstr>Microsoft YaHei</vt:lpstr>
      <vt:lpstr>Arial Unicode MS</vt:lpstr>
      <vt:lpstr>Calibri</vt:lpstr>
      <vt:lpstr>Times New Roman</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Presentation</dc:title>
  <dc:creator>KIIT</dc:creator>
  <cp:lastModifiedBy>605_YASH CHOWDHARY</cp:lastModifiedBy>
  <cp:revision>2</cp:revision>
  <dcterms:created xsi:type="dcterms:W3CDTF">2026-06-12T06:55:31Z</dcterms:created>
  <dcterms:modified xsi:type="dcterms:W3CDTF">2026-06-12T08:09:19Z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7102246270CE42D8AFBBE7887E7D4EF5_11</vt:lpwstr>
  </property>
</Properties>
</file>